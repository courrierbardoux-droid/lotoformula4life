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  <p:sldId id="264" r:id="rId7"/>
    <p:sldId id="266" r:id="rId8"/>
    <p:sldId id="267" r:id="rId9"/>
    <p:sldId id="269" r:id="rId10"/>
    <p:sldId id="270" r:id="rId11"/>
    <p:sldId id="272" r:id="rId12"/>
    <p:sldId id="274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5" d="100"/>
          <a:sy n="135" d="100"/>
        </p:scale>
        <p:origin x="96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LOTOFORMULA4LIFE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Présentation Investisseurs — Plateforme d’analyse EuroMillions</a:t>
            </a:r>
          </a:p>
          <a:p>
            <a:pPr marL="0" lvl="0" indent="0">
              <a:buNone/>
            </a:pPr>
            <a:r>
              <a:rPr b="1"/>
              <a:t>Document de présentation produit</a:t>
            </a:r>
            <a:br/>
            <a:r>
              <a:t>Version 1.0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32980"/>
            <a:ext cx="8229600" cy="3877540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Table des matières</a:t>
            </a:r>
          </a:p>
          <a:p>
            <a:pPr marL="342900" lvl="0" indent="-342900">
              <a:buAutoNum type="arabicPeriod"/>
            </a:pPr>
            <a:r>
              <a:rPr dirty="0"/>
              <a:t>Vue </a:t>
            </a:r>
            <a:r>
              <a:rPr dirty="0" err="1"/>
              <a:t>d’ensemble</a:t>
            </a:r>
            <a:endParaRPr dirty="0"/>
          </a:p>
          <a:p>
            <a:pPr marL="342900" lvl="0" indent="-342900">
              <a:buAutoNum type="arabicPeriod"/>
            </a:pPr>
            <a:r>
              <a:rPr dirty="0"/>
              <a:t>Philosophie : La Loi de Compensation</a:t>
            </a:r>
          </a:p>
          <a:p>
            <a:pPr marL="342900" lvl="0" indent="-342900">
              <a:buAutoNum type="arabicPeriod"/>
            </a:pPr>
            <a:r>
              <a:rPr dirty="0"/>
              <a:t>Ce </a:t>
            </a:r>
            <a:r>
              <a:rPr dirty="0" err="1"/>
              <a:t>qu’est</a:t>
            </a:r>
            <a:r>
              <a:rPr dirty="0"/>
              <a:t> LotoFormula4Life</a:t>
            </a:r>
          </a:p>
          <a:p>
            <a:pPr marL="342900" lvl="0" indent="-342900">
              <a:buAutoNum type="arabicPeriod"/>
            </a:pPr>
            <a:r>
              <a:rPr dirty="0" err="1"/>
              <a:t>Approches</a:t>
            </a:r>
            <a:r>
              <a:rPr dirty="0"/>
              <a:t> </a:t>
            </a:r>
            <a:r>
              <a:rPr dirty="0" err="1"/>
              <a:t>originales</a:t>
            </a:r>
            <a:r>
              <a:rPr dirty="0"/>
              <a:t> et innovation</a:t>
            </a:r>
          </a:p>
          <a:p>
            <a:pPr marL="342900" lvl="0" indent="-342900">
              <a:buAutoNum type="arabicPeriod"/>
            </a:pPr>
            <a:r>
              <a:rPr dirty="0" err="1"/>
              <a:t>Mixages</a:t>
            </a:r>
            <a:r>
              <a:rPr dirty="0"/>
              <a:t> </a:t>
            </a:r>
            <a:r>
              <a:rPr dirty="0" err="1"/>
              <a:t>statistiques</a:t>
            </a:r>
            <a:r>
              <a:rPr dirty="0"/>
              <a:t> et </a:t>
            </a:r>
            <a:r>
              <a:rPr dirty="0" err="1"/>
              <a:t>probabilités</a:t>
            </a:r>
            <a:endParaRPr dirty="0"/>
          </a:p>
          <a:p>
            <a:pPr marL="342900" lvl="0" indent="-342900">
              <a:buAutoNum type="arabicPeriod"/>
            </a:pPr>
            <a:r>
              <a:rPr dirty="0"/>
              <a:t>Navigation : menu et sous-menus</a:t>
            </a:r>
          </a:p>
          <a:p>
            <a:pPr marL="342900" lvl="0" indent="-342900">
              <a:buAutoNum type="arabicPeriod"/>
            </a:pPr>
            <a:r>
              <a:rPr dirty="0" err="1"/>
              <a:t>Niveaux</a:t>
            </a:r>
            <a:r>
              <a:rPr dirty="0"/>
              <a:t> </a:t>
            </a:r>
            <a:r>
              <a:rPr dirty="0" err="1"/>
              <a:t>d’accès</a:t>
            </a:r>
            <a:endParaRPr dirty="0"/>
          </a:p>
          <a:p>
            <a:pPr marL="342900" lvl="0" indent="-342900">
              <a:buAutoNum type="arabicPeriod"/>
            </a:pPr>
            <a:r>
              <a:rPr dirty="0"/>
              <a:t>Conclusion — Le moment de </a:t>
            </a:r>
            <a:r>
              <a:rPr dirty="0" err="1"/>
              <a:t>décider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Vue d’ensemble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LotoFormula4Life est </a:t>
            </a:r>
            <a:r>
              <a:rPr dirty="0" err="1"/>
              <a:t>une</a:t>
            </a:r>
            <a:r>
              <a:rPr dirty="0"/>
              <a:t> </a:t>
            </a:r>
            <a:r>
              <a:rPr b="1" dirty="0"/>
              <a:t>application web </a:t>
            </a:r>
            <a:r>
              <a:rPr b="1" dirty="0" err="1"/>
              <a:t>d’analyse</a:t>
            </a:r>
            <a:r>
              <a:rPr b="1" dirty="0"/>
              <a:t> EuroMillions</a:t>
            </a:r>
            <a:r>
              <a:rPr dirty="0"/>
              <a:t> </a:t>
            </a:r>
            <a:r>
              <a:rPr dirty="0" err="1"/>
              <a:t>fondée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philosophie</a:t>
            </a:r>
            <a:r>
              <a:rPr dirty="0"/>
              <a:t> </a:t>
            </a:r>
            <a:r>
              <a:rPr dirty="0" err="1"/>
              <a:t>statistique</a:t>
            </a:r>
            <a:r>
              <a:rPr dirty="0"/>
              <a:t> </a:t>
            </a:r>
            <a:r>
              <a:rPr dirty="0" err="1"/>
              <a:t>rigoureuse</a:t>
            </a:r>
            <a:r>
              <a:rPr dirty="0"/>
              <a:t> : la Loi de Compensation. Elle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d’identifier</a:t>
            </a:r>
            <a:r>
              <a:rPr dirty="0"/>
              <a:t> les </a:t>
            </a:r>
            <a:r>
              <a:rPr dirty="0" err="1"/>
              <a:t>numéros</a:t>
            </a:r>
            <a:r>
              <a:rPr dirty="0"/>
              <a:t> à forte </a:t>
            </a:r>
            <a:r>
              <a:rPr dirty="0" err="1"/>
              <a:t>probabilité</a:t>
            </a:r>
            <a:r>
              <a:rPr dirty="0"/>
              <a:t> de sortie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combinant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</a:t>
            </a:r>
            <a:r>
              <a:rPr dirty="0" err="1"/>
              <a:t>pôles</a:t>
            </a:r>
            <a:r>
              <a:rPr dirty="0"/>
              <a:t> </a:t>
            </a:r>
            <a:r>
              <a:rPr dirty="0" err="1"/>
              <a:t>d’analyse</a:t>
            </a:r>
            <a:r>
              <a:rPr dirty="0"/>
              <a:t> (</a:t>
            </a:r>
            <a:r>
              <a:rPr dirty="0" err="1"/>
              <a:t>Fréquence</a:t>
            </a:r>
            <a:r>
              <a:rPr dirty="0"/>
              <a:t>, </a:t>
            </a:r>
            <a:r>
              <a:rPr dirty="0" err="1"/>
              <a:t>Surreprésentation</a:t>
            </a:r>
            <a:r>
              <a:rPr dirty="0"/>
              <a:t>, Tendance, </a:t>
            </a:r>
            <a:r>
              <a:rPr dirty="0" err="1"/>
              <a:t>Dormeur</a:t>
            </a:r>
            <a:r>
              <a:rPr dirty="0"/>
              <a:t>) de manière </a:t>
            </a:r>
            <a:r>
              <a:rPr dirty="0" err="1"/>
              <a:t>personnalisable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 err="1"/>
              <a:t>Cible</a:t>
            </a:r>
            <a:r>
              <a:rPr b="1" dirty="0"/>
              <a:t> :</a:t>
            </a:r>
            <a:r>
              <a:rPr dirty="0"/>
              <a:t> </a:t>
            </a:r>
            <a:r>
              <a:rPr dirty="0" err="1"/>
              <a:t>Joueurs</a:t>
            </a:r>
            <a:r>
              <a:rPr dirty="0"/>
              <a:t> </a:t>
            </a:r>
            <a:r>
              <a:rPr dirty="0" err="1"/>
              <a:t>d’EuroMillions</a:t>
            </a:r>
            <a:r>
              <a:rPr dirty="0"/>
              <a:t> </a:t>
            </a:r>
            <a:r>
              <a:rPr dirty="0" err="1"/>
              <a:t>souhaitant</a:t>
            </a:r>
            <a:r>
              <a:rPr dirty="0"/>
              <a:t> </a:t>
            </a:r>
            <a:r>
              <a:rPr dirty="0" err="1"/>
              <a:t>optimiser</a:t>
            </a:r>
            <a:r>
              <a:rPr dirty="0"/>
              <a:t> </a:t>
            </a:r>
            <a:r>
              <a:rPr dirty="0" err="1"/>
              <a:t>leurs</a:t>
            </a:r>
            <a:r>
              <a:rPr dirty="0"/>
              <a:t> </a:t>
            </a:r>
            <a:r>
              <a:rPr dirty="0" err="1"/>
              <a:t>stratégies</a:t>
            </a:r>
            <a:r>
              <a:rPr dirty="0"/>
              <a:t> de </a:t>
            </a:r>
            <a:r>
              <a:rPr dirty="0" err="1"/>
              <a:t>sélection</a:t>
            </a:r>
            <a:r>
              <a:rPr dirty="0"/>
              <a:t>.</a:t>
            </a:r>
          </a:p>
          <a:p>
            <a:pPr marL="0" lvl="0" indent="0">
              <a:buNone/>
            </a:pPr>
            <a:r>
              <a:rPr b="1" dirty="0"/>
              <a:t>Proposition de </a:t>
            </a:r>
            <a:r>
              <a:rPr b="1" dirty="0" err="1"/>
              <a:t>valeur</a:t>
            </a:r>
            <a:r>
              <a:rPr b="1" dirty="0"/>
              <a:t> :</a:t>
            </a:r>
            <a:r>
              <a:rPr dirty="0"/>
              <a:t> Une interface </a:t>
            </a:r>
            <a:r>
              <a:rPr dirty="0" err="1"/>
              <a:t>professionnelle</a:t>
            </a:r>
            <a:r>
              <a:rPr dirty="0"/>
              <a:t> (type cockpit) qui met à disposition des </a:t>
            </a:r>
            <a:r>
              <a:rPr dirty="0" err="1"/>
              <a:t>statistiques</a:t>
            </a:r>
            <a:r>
              <a:rPr dirty="0"/>
              <a:t> </a:t>
            </a:r>
            <a:r>
              <a:rPr dirty="0" err="1"/>
              <a:t>avancées</a:t>
            </a:r>
            <a:r>
              <a:rPr dirty="0"/>
              <a:t> et des </a:t>
            </a:r>
            <a:r>
              <a:rPr dirty="0" err="1"/>
              <a:t>outils</a:t>
            </a:r>
            <a:r>
              <a:rPr dirty="0"/>
              <a:t> de </a:t>
            </a:r>
            <a:r>
              <a:rPr dirty="0" err="1"/>
              <a:t>mixage</a:t>
            </a:r>
            <a:r>
              <a:rPr dirty="0"/>
              <a:t> pour augmenter la pertinence des choix.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028"/>
            <a:ext cx="3008313" cy="61219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2. Philosophie : La Loi de Compensation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Principe </a:t>
            </a:r>
            <a:r>
              <a:rPr b="1" dirty="0" err="1"/>
              <a:t>fondamental</a:t>
            </a:r>
            <a:endParaRPr b="1" dirty="0"/>
          </a:p>
          <a:p>
            <a:pPr marL="1270000" lvl="0" indent="0">
              <a:buNone/>
            </a:pPr>
            <a:r>
              <a:rPr sz="1800" dirty="0"/>
              <a:t>Il </a:t>
            </a:r>
            <a:r>
              <a:rPr sz="1800" dirty="0" err="1"/>
              <a:t>n’existe</a:t>
            </a:r>
            <a:r>
              <a:rPr sz="1800" dirty="0"/>
              <a:t> pas de </a:t>
            </a:r>
            <a:r>
              <a:rPr sz="1800" dirty="0" err="1"/>
              <a:t>hasard</a:t>
            </a:r>
            <a:r>
              <a:rPr sz="1800" dirty="0"/>
              <a:t> dans </a:t>
            </a:r>
            <a:r>
              <a:rPr sz="1800" dirty="0" err="1"/>
              <a:t>l’univers</a:t>
            </a:r>
            <a:r>
              <a:rPr sz="1800" dirty="0"/>
              <a:t>. Ce </a:t>
            </a:r>
            <a:r>
              <a:rPr sz="1800" dirty="0" err="1"/>
              <a:t>que</a:t>
            </a:r>
            <a:r>
              <a:rPr sz="1800" dirty="0"/>
              <a:t> </a:t>
            </a:r>
            <a:r>
              <a:rPr sz="1800" dirty="0" err="1"/>
              <a:t>l’on</a:t>
            </a:r>
            <a:r>
              <a:rPr sz="1800" dirty="0"/>
              <a:t> </a:t>
            </a:r>
            <a:r>
              <a:rPr sz="1800" dirty="0" err="1"/>
              <a:t>appelle</a:t>
            </a:r>
            <a:r>
              <a:rPr sz="1800" dirty="0"/>
              <a:t> “</a:t>
            </a:r>
            <a:r>
              <a:rPr sz="1800" dirty="0" err="1"/>
              <a:t>hasard</a:t>
            </a:r>
            <a:r>
              <a:rPr sz="1800" dirty="0"/>
              <a:t>” </a:t>
            </a:r>
            <a:r>
              <a:rPr sz="1800" dirty="0" err="1"/>
              <a:t>n’est</a:t>
            </a:r>
            <a:r>
              <a:rPr sz="1800" dirty="0"/>
              <a:t> </a:t>
            </a:r>
            <a:r>
              <a:rPr sz="1800" dirty="0" err="1"/>
              <a:t>qu’une</a:t>
            </a:r>
            <a:r>
              <a:rPr sz="1800" dirty="0"/>
              <a:t> manifestation de </a:t>
            </a:r>
            <a:r>
              <a:rPr sz="1800" dirty="0" err="1"/>
              <a:t>probabilités</a:t>
            </a:r>
            <a:r>
              <a:rPr sz="1800" dirty="0"/>
              <a:t> </a:t>
            </a:r>
            <a:r>
              <a:rPr sz="1800" dirty="0" err="1"/>
              <a:t>statistiques</a:t>
            </a:r>
            <a:r>
              <a:rPr sz="1800" dirty="0"/>
              <a:t>. Les tirages de </a:t>
            </a:r>
            <a:r>
              <a:rPr sz="1800" dirty="0" err="1"/>
              <a:t>loterie</a:t>
            </a:r>
            <a:r>
              <a:rPr sz="1800" dirty="0"/>
              <a:t> ne </a:t>
            </a:r>
            <a:r>
              <a:rPr sz="1800" dirty="0" err="1"/>
              <a:t>sont</a:t>
            </a:r>
            <a:r>
              <a:rPr sz="1800" dirty="0"/>
              <a:t> </a:t>
            </a:r>
            <a:r>
              <a:rPr sz="1800" i="1" dirty="0"/>
              <a:t>pas</a:t>
            </a:r>
            <a:r>
              <a:rPr sz="1800" dirty="0"/>
              <a:t> </a:t>
            </a:r>
            <a:r>
              <a:rPr sz="1800" dirty="0" err="1"/>
              <a:t>aléatoires</a:t>
            </a:r>
            <a:r>
              <a:rPr sz="1800" dirty="0"/>
              <a:t> </a:t>
            </a:r>
            <a:r>
              <a:rPr sz="2000" dirty="0"/>
              <a:t>au </a:t>
            </a:r>
            <a:r>
              <a:rPr sz="2000" dirty="0" err="1"/>
              <a:t>sens</a:t>
            </a:r>
            <a:r>
              <a:rPr sz="2000" dirty="0"/>
              <a:t> philosophique : </a:t>
            </a:r>
            <a:r>
              <a:rPr sz="2000" dirty="0" err="1"/>
              <a:t>ils</a:t>
            </a:r>
            <a:r>
              <a:rPr sz="2000" dirty="0"/>
              <a:t> constituent un </a:t>
            </a:r>
            <a:r>
              <a:rPr sz="2000" dirty="0" err="1"/>
              <a:t>système</a:t>
            </a:r>
            <a:r>
              <a:rPr sz="2000" dirty="0"/>
              <a:t> de </a:t>
            </a:r>
            <a:r>
              <a:rPr sz="2000" dirty="0" err="1"/>
              <a:t>probabilités</a:t>
            </a:r>
            <a:r>
              <a:rPr sz="2000" dirty="0"/>
              <a:t> qui tend </a:t>
            </a:r>
            <a:r>
              <a:rPr sz="2000" dirty="0" err="1"/>
              <a:t>naturellement</a:t>
            </a:r>
            <a:r>
              <a:rPr sz="2000" dirty="0"/>
              <a:t> vers </a:t>
            </a:r>
            <a:r>
              <a:rPr sz="2000" dirty="0" err="1"/>
              <a:t>l’équilibre</a:t>
            </a:r>
            <a:r>
              <a:rPr sz="2000" dirty="0"/>
              <a:t>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Cinq </a:t>
            </a:r>
            <a:r>
              <a:rPr b="1" dirty="0" err="1"/>
              <a:t>piliers</a:t>
            </a:r>
            <a:r>
              <a:rPr b="1" dirty="0"/>
              <a:t> de la Loi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Principe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Fréquence attendue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Chaque numéro possède une fréquence d’apparition mathématiquement attendue sur une période donnée.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Dette statistique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Un numéro absent pendant longtemps accumule une “dette” — une pression probabiliste croissante pour son retour.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Équilibre naturel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 système tend vers l’équilibre. Les écarts de fréquence se réduisent progressivement.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Signature comportementale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Chaque numéro a sa propre “signature” — cycles chauds/froids, réactivité post-absence, saisonnalité.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Compensation temporelle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Les absences prolongées créent des conditions favorables au retour. Plus l’absence est longue, plus la pression de compensation est forte.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Ce qu’est LotoFormula4Life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En une phrase</a:t>
            </a:r>
          </a:p>
          <a:p>
            <a:pPr marL="0" lvl="0" indent="0">
              <a:buNone/>
            </a:pPr>
            <a:r>
              <a:t>Une </a:t>
            </a:r>
            <a:r>
              <a:rPr b="1"/>
              <a:t>console d’analyse</a:t>
            </a:r>
            <a:r>
              <a:t> qui permet de visualiser, combiner et exploiter plusieurs signaux statistiques (Fréquence, Surreprésentation, Tendance, Vivier, Dormeur) pour identifier les numéros les plus pertinents pour le prochain tirage EuroMillions.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Structure EuroMillions</a:t>
            </a:r>
          </a:p>
          <a:p>
            <a:pPr lvl="0"/>
            <a:r>
              <a:rPr b="1"/>
              <a:t>5 numéros</a:t>
            </a:r>
            <a:r>
              <a:t> parmi 50 (boules principales)</a:t>
            </a:r>
          </a:p>
          <a:p>
            <a:pPr lvl="0"/>
            <a:r>
              <a:rPr b="1"/>
              <a:t>2 étoiles</a:t>
            </a:r>
            <a:r>
              <a:t> parmi 12</a:t>
            </a:r>
          </a:p>
          <a:p>
            <a:pPr lvl="0"/>
            <a:r>
              <a:rPr b="1"/>
              <a:t>Combinaisons totales :</a:t>
            </a:r>
            <a:r>
              <a:t> 139 838 160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/>
              <a:t>Interface type cockpit</a:t>
            </a:r>
          </a:p>
          <a:p>
            <a:pPr marL="0" lvl="0" indent="0">
              <a:buNone/>
            </a:pPr>
            <a:r>
              <a:t>L’application propose une interface inspirée des consoles de mixage professionnelles : cadrans, compteurs, indicateurs LED, grilles de sélection. L’utilisateur configure ses “racks” (Fréquence, Surreprésentation, Tendance, Vivier, Dormeur) et voit en temps réel les numéros les plus pertinents.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0252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4. </a:t>
            </a:r>
            <a:r>
              <a:rPr dirty="0" err="1"/>
              <a:t>Approches</a:t>
            </a:r>
            <a:r>
              <a:rPr dirty="0"/>
              <a:t> </a:t>
            </a:r>
            <a:r>
              <a:rPr dirty="0" err="1"/>
              <a:t>originales</a:t>
            </a:r>
            <a:r>
              <a:rPr dirty="0"/>
              <a:t> et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6162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900" b="1" dirty="0"/>
              <a:t>4.1 </a:t>
            </a:r>
            <a:r>
              <a:rPr sz="900" b="1" dirty="0" err="1"/>
              <a:t>Fenêtres</a:t>
            </a:r>
            <a:r>
              <a:rPr sz="900" b="1" dirty="0"/>
              <a:t> de </a:t>
            </a:r>
            <a:r>
              <a:rPr sz="900" b="1" dirty="0" err="1"/>
              <a:t>calcul</a:t>
            </a:r>
            <a:r>
              <a:rPr sz="900" b="1" dirty="0"/>
              <a:t> </a:t>
            </a:r>
            <a:r>
              <a:rPr sz="900" b="1" dirty="0" err="1"/>
              <a:t>intelligentes</a:t>
            </a:r>
            <a:endParaRPr sz="900" b="1" dirty="0"/>
          </a:p>
          <a:p>
            <a:pPr marL="0" lvl="0" indent="0">
              <a:buNone/>
            </a:pPr>
            <a:r>
              <a:rPr sz="900" dirty="0" err="1"/>
              <a:t>Chaque</a:t>
            </a:r>
            <a:r>
              <a:rPr sz="900" dirty="0"/>
              <a:t> </a:t>
            </a:r>
            <a:r>
              <a:rPr sz="900" dirty="0" err="1"/>
              <a:t>pôle</a:t>
            </a:r>
            <a:r>
              <a:rPr sz="900" dirty="0"/>
              <a:t> </a:t>
            </a:r>
            <a:r>
              <a:rPr sz="900" dirty="0" err="1"/>
              <a:t>statistique</a:t>
            </a:r>
            <a:r>
              <a:rPr sz="900" dirty="0"/>
              <a:t> </a:t>
            </a:r>
            <a:r>
              <a:rPr sz="900" dirty="0" err="1"/>
              <a:t>utilise</a:t>
            </a:r>
            <a:r>
              <a:rPr sz="900" dirty="0"/>
              <a:t> </a:t>
            </a:r>
            <a:r>
              <a:rPr sz="900" dirty="0" err="1"/>
              <a:t>une</a:t>
            </a:r>
            <a:r>
              <a:rPr sz="900" dirty="0"/>
              <a:t> </a:t>
            </a:r>
            <a:r>
              <a:rPr sz="900" b="1" dirty="0" err="1"/>
              <a:t>fenêtre</a:t>
            </a:r>
            <a:r>
              <a:rPr sz="900" b="1" dirty="0"/>
              <a:t> de </a:t>
            </a:r>
            <a:r>
              <a:rPr sz="900" b="1" dirty="0" err="1"/>
              <a:t>calcul</a:t>
            </a:r>
            <a:r>
              <a:rPr sz="900" dirty="0"/>
              <a:t> (</a:t>
            </a:r>
            <a:r>
              <a:rPr sz="900" dirty="0" err="1"/>
              <a:t>nombre</a:t>
            </a:r>
            <a:r>
              <a:rPr sz="900" dirty="0"/>
              <a:t> de tirages </a:t>
            </a:r>
            <a:r>
              <a:rPr sz="900" dirty="0" err="1"/>
              <a:t>analysés</a:t>
            </a:r>
            <a:r>
              <a:rPr sz="900" dirty="0"/>
              <a:t>) :</a:t>
            </a:r>
          </a:p>
          <a:p>
            <a:pPr lvl="0"/>
            <a:r>
              <a:rPr sz="900" b="1" dirty="0" err="1"/>
              <a:t>Fréquence</a:t>
            </a:r>
            <a:r>
              <a:rPr sz="900" dirty="0"/>
              <a:t> : </a:t>
            </a:r>
            <a:r>
              <a:rPr sz="900" dirty="0" err="1"/>
              <a:t>fenêtre</a:t>
            </a:r>
            <a:r>
              <a:rPr sz="900" dirty="0"/>
              <a:t> </a:t>
            </a:r>
            <a:r>
              <a:rPr sz="900" dirty="0" err="1"/>
              <a:t>ni</a:t>
            </a:r>
            <a:r>
              <a:rPr sz="900" dirty="0"/>
              <a:t> trop </a:t>
            </a:r>
            <a:r>
              <a:rPr sz="900" dirty="0" err="1"/>
              <a:t>courte</a:t>
            </a:r>
            <a:r>
              <a:rPr sz="900" dirty="0"/>
              <a:t> (bruit) </a:t>
            </a:r>
            <a:r>
              <a:rPr sz="900" dirty="0" err="1"/>
              <a:t>ni</a:t>
            </a:r>
            <a:r>
              <a:rPr sz="900" dirty="0"/>
              <a:t> trop longue (silence) — recherche de la </a:t>
            </a:r>
            <a:r>
              <a:rPr sz="900" dirty="0" err="1"/>
              <a:t>stabilité</a:t>
            </a:r>
            <a:r>
              <a:rPr sz="900" dirty="0"/>
              <a:t> du </a:t>
            </a:r>
            <a:r>
              <a:rPr sz="900" dirty="0" err="1"/>
              <a:t>classement</a:t>
            </a:r>
            <a:r>
              <a:rPr sz="900" dirty="0"/>
              <a:t>.</a:t>
            </a:r>
          </a:p>
          <a:p>
            <a:pPr lvl="0"/>
            <a:r>
              <a:rPr sz="900" b="1" dirty="0" err="1"/>
              <a:t>Surreprésentation</a:t>
            </a:r>
            <a:r>
              <a:rPr sz="900" dirty="0"/>
              <a:t> : </a:t>
            </a:r>
            <a:r>
              <a:rPr sz="900" dirty="0" err="1"/>
              <a:t>comparaison</a:t>
            </a:r>
            <a:r>
              <a:rPr sz="900" dirty="0"/>
              <a:t> entre </a:t>
            </a:r>
            <a:r>
              <a:rPr sz="900" dirty="0" err="1"/>
              <a:t>observé</a:t>
            </a:r>
            <a:r>
              <a:rPr sz="900" dirty="0"/>
              <a:t> et </a:t>
            </a:r>
            <a:r>
              <a:rPr sz="900" dirty="0" err="1"/>
              <a:t>attendu</a:t>
            </a:r>
            <a:r>
              <a:rPr sz="900" dirty="0"/>
              <a:t> (z-score).</a:t>
            </a:r>
          </a:p>
          <a:p>
            <a:pPr lvl="0"/>
            <a:r>
              <a:rPr sz="900" b="1" dirty="0"/>
              <a:t>Tendance</a:t>
            </a:r>
            <a:r>
              <a:rPr sz="900" dirty="0"/>
              <a:t> : direction (</a:t>
            </a:r>
            <a:r>
              <a:rPr sz="900" dirty="0" err="1"/>
              <a:t>hausse</a:t>
            </a:r>
            <a:r>
              <a:rPr sz="900" dirty="0"/>
              <a:t>, </a:t>
            </a:r>
            <a:r>
              <a:rPr sz="900" dirty="0" err="1"/>
              <a:t>baisse</a:t>
            </a:r>
            <a:r>
              <a:rPr sz="900" dirty="0"/>
              <a:t>, stable) sur </a:t>
            </a:r>
            <a:r>
              <a:rPr sz="900" dirty="0" err="1"/>
              <a:t>une</a:t>
            </a:r>
            <a:r>
              <a:rPr sz="900" dirty="0"/>
              <a:t> </a:t>
            </a:r>
            <a:r>
              <a:rPr sz="900" dirty="0" err="1"/>
              <a:t>fenêtre</a:t>
            </a:r>
            <a:r>
              <a:rPr sz="900" dirty="0"/>
              <a:t> </a:t>
            </a:r>
            <a:r>
              <a:rPr sz="900" dirty="0" err="1"/>
              <a:t>récente</a:t>
            </a:r>
            <a:r>
              <a:rPr sz="900" dirty="0"/>
              <a:t>.</a:t>
            </a:r>
          </a:p>
          <a:p>
            <a:pPr lvl="0"/>
            <a:r>
              <a:rPr sz="900" b="1" dirty="0" err="1"/>
              <a:t>Dormeur</a:t>
            </a:r>
            <a:r>
              <a:rPr sz="900" dirty="0"/>
              <a:t> : retard </a:t>
            </a:r>
            <a:r>
              <a:rPr sz="900" dirty="0" err="1"/>
              <a:t>actuel</a:t>
            </a:r>
            <a:r>
              <a:rPr sz="900" dirty="0"/>
              <a:t> — </a:t>
            </a:r>
            <a:r>
              <a:rPr sz="900" dirty="0" err="1"/>
              <a:t>combien</a:t>
            </a:r>
            <a:r>
              <a:rPr sz="900" dirty="0"/>
              <a:t> de tirages </a:t>
            </a:r>
            <a:r>
              <a:rPr sz="900" dirty="0" err="1"/>
              <a:t>depuis</a:t>
            </a:r>
            <a:r>
              <a:rPr sz="900" dirty="0"/>
              <a:t> la </a:t>
            </a:r>
            <a:r>
              <a:rPr sz="900" dirty="0" err="1"/>
              <a:t>dernière</a:t>
            </a:r>
            <a:r>
              <a:rPr sz="900" dirty="0"/>
              <a:t> sortie.</a:t>
            </a:r>
          </a:p>
          <a:p>
            <a:pPr lvl="0"/>
            <a:r>
              <a:rPr sz="900" b="1" dirty="0"/>
              <a:t>Vivier</a:t>
            </a:r>
            <a:r>
              <a:rPr sz="900" dirty="0"/>
              <a:t> : </a:t>
            </a:r>
            <a:r>
              <a:rPr sz="900" dirty="0" err="1"/>
              <a:t>nombre</a:t>
            </a:r>
            <a:r>
              <a:rPr sz="900" dirty="0"/>
              <a:t> de </a:t>
            </a:r>
            <a:r>
              <a:rPr sz="900" dirty="0" err="1"/>
              <a:t>numéros</a:t>
            </a:r>
            <a:r>
              <a:rPr sz="900" dirty="0"/>
              <a:t> </a:t>
            </a:r>
            <a:r>
              <a:rPr sz="900" dirty="0" err="1"/>
              <a:t>retenus</a:t>
            </a:r>
            <a:r>
              <a:rPr sz="900" dirty="0"/>
              <a:t> dans </a:t>
            </a:r>
            <a:r>
              <a:rPr sz="900" dirty="0" err="1"/>
              <a:t>chaque</a:t>
            </a:r>
            <a:r>
              <a:rPr sz="900" dirty="0"/>
              <a:t> pool (</a:t>
            </a:r>
            <a:r>
              <a:rPr sz="900" dirty="0" err="1"/>
              <a:t>personnalisable</a:t>
            </a:r>
            <a:r>
              <a:rPr sz="900" dirty="0"/>
              <a:t>).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900" b="1" dirty="0"/>
              <a:t>4.2 </a:t>
            </a:r>
            <a:r>
              <a:rPr sz="900" b="1" dirty="0" err="1"/>
              <a:t>Priorité</a:t>
            </a:r>
            <a:r>
              <a:rPr sz="900" b="1" dirty="0"/>
              <a:t> de tri</a:t>
            </a:r>
          </a:p>
          <a:p>
            <a:pPr marL="0" lvl="0" indent="0">
              <a:buNone/>
            </a:pPr>
            <a:r>
              <a:rPr sz="900" dirty="0" err="1"/>
              <a:t>L’utilisateur</a:t>
            </a:r>
            <a:r>
              <a:rPr sz="900" dirty="0"/>
              <a:t> </a:t>
            </a:r>
            <a:r>
              <a:rPr sz="900" dirty="0" err="1"/>
              <a:t>définit</a:t>
            </a:r>
            <a:r>
              <a:rPr sz="900" dirty="0"/>
              <a:t> </a:t>
            </a:r>
            <a:r>
              <a:rPr sz="900" dirty="0" err="1"/>
              <a:t>l’ordre</a:t>
            </a:r>
            <a:r>
              <a:rPr sz="900" dirty="0"/>
              <a:t> de </a:t>
            </a:r>
            <a:r>
              <a:rPr sz="900" dirty="0" err="1"/>
              <a:t>priorité</a:t>
            </a:r>
            <a:r>
              <a:rPr sz="900" dirty="0"/>
              <a:t> entre </a:t>
            </a:r>
            <a:r>
              <a:rPr sz="900" dirty="0" err="1"/>
              <a:t>Fréquence</a:t>
            </a:r>
            <a:r>
              <a:rPr sz="900" dirty="0"/>
              <a:t>, </a:t>
            </a:r>
            <a:r>
              <a:rPr sz="900" dirty="0" err="1"/>
              <a:t>Surreprésentation</a:t>
            </a:r>
            <a:r>
              <a:rPr sz="900" dirty="0"/>
              <a:t> et Tendance. Les </a:t>
            </a:r>
            <a:r>
              <a:rPr sz="900" dirty="0" err="1"/>
              <a:t>numéros</a:t>
            </a:r>
            <a:r>
              <a:rPr sz="900" dirty="0"/>
              <a:t> </a:t>
            </a:r>
            <a:r>
              <a:rPr sz="900" dirty="0" err="1"/>
              <a:t>sont</a:t>
            </a:r>
            <a:r>
              <a:rPr sz="900" dirty="0"/>
              <a:t> </a:t>
            </a:r>
            <a:r>
              <a:rPr sz="900" dirty="0" err="1"/>
              <a:t>triés</a:t>
            </a:r>
            <a:r>
              <a:rPr sz="900" dirty="0"/>
              <a:t> </a:t>
            </a:r>
            <a:r>
              <a:rPr sz="900" dirty="0" err="1"/>
              <a:t>selon</a:t>
            </a:r>
            <a:r>
              <a:rPr sz="900" dirty="0"/>
              <a:t> </a:t>
            </a:r>
            <a:r>
              <a:rPr sz="900" dirty="0" err="1"/>
              <a:t>cette</a:t>
            </a:r>
            <a:r>
              <a:rPr sz="900" dirty="0"/>
              <a:t> </a:t>
            </a:r>
            <a:r>
              <a:rPr sz="900" dirty="0" err="1"/>
              <a:t>hiérarchie</a:t>
            </a:r>
            <a:r>
              <a:rPr sz="900" dirty="0"/>
              <a:t> pour </a:t>
            </a:r>
            <a:r>
              <a:rPr sz="900" dirty="0" err="1"/>
              <a:t>optimiser</a:t>
            </a:r>
            <a:r>
              <a:rPr sz="900" dirty="0"/>
              <a:t> la </a:t>
            </a:r>
            <a:r>
              <a:rPr sz="900" dirty="0" err="1"/>
              <a:t>sélection</a:t>
            </a:r>
            <a:r>
              <a:rPr sz="900" dirty="0"/>
              <a:t>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900" b="1" dirty="0"/>
              <a:t>4.3 </a:t>
            </a:r>
            <a:r>
              <a:rPr sz="900" b="1" dirty="0" err="1"/>
              <a:t>Mémoire</a:t>
            </a:r>
            <a:r>
              <a:rPr sz="900" b="1" dirty="0"/>
              <a:t> </a:t>
            </a:r>
            <a:r>
              <a:rPr sz="900" b="1" dirty="0" err="1"/>
              <a:t>utilisateur</a:t>
            </a:r>
            <a:endParaRPr sz="900" b="1" dirty="0"/>
          </a:p>
          <a:p>
            <a:pPr marL="0" lvl="0" indent="0">
              <a:buNone/>
            </a:pPr>
            <a:r>
              <a:rPr sz="900" dirty="0" err="1"/>
              <a:t>Chaque</a:t>
            </a:r>
            <a:r>
              <a:rPr sz="900" dirty="0"/>
              <a:t> </a:t>
            </a:r>
            <a:r>
              <a:rPr sz="900" dirty="0" err="1"/>
              <a:t>utilisateur</a:t>
            </a:r>
            <a:r>
              <a:rPr sz="900" dirty="0"/>
              <a:t> conserve </a:t>
            </a:r>
            <a:r>
              <a:rPr sz="900" dirty="0" err="1"/>
              <a:t>ses</a:t>
            </a:r>
            <a:r>
              <a:rPr sz="900" dirty="0"/>
              <a:t> </a:t>
            </a:r>
            <a:r>
              <a:rPr sz="900" dirty="0" err="1"/>
              <a:t>réglages</a:t>
            </a:r>
            <a:r>
              <a:rPr sz="900" dirty="0"/>
              <a:t> (Vivier, Stats, </a:t>
            </a:r>
            <a:r>
              <a:rPr sz="900" dirty="0" err="1"/>
              <a:t>Dormeur</a:t>
            </a:r>
            <a:r>
              <a:rPr sz="900" dirty="0"/>
              <a:t>, </a:t>
            </a:r>
            <a:r>
              <a:rPr sz="900" dirty="0" err="1"/>
              <a:t>priorité</a:t>
            </a:r>
            <a:r>
              <a:rPr sz="900" dirty="0"/>
              <a:t> de tri) </a:t>
            </a:r>
            <a:r>
              <a:rPr sz="900" dirty="0" err="1"/>
              <a:t>en</a:t>
            </a:r>
            <a:r>
              <a:rPr sz="900" dirty="0"/>
              <a:t> </a:t>
            </a:r>
            <a:r>
              <a:rPr sz="900" dirty="0" err="1"/>
              <a:t>mémoire</a:t>
            </a:r>
            <a:r>
              <a:rPr sz="900" dirty="0"/>
              <a:t>. À la reconnexion, il </a:t>
            </a:r>
            <a:r>
              <a:rPr sz="900" dirty="0" err="1"/>
              <a:t>retrouve</a:t>
            </a:r>
            <a:r>
              <a:rPr sz="900" dirty="0"/>
              <a:t> </a:t>
            </a:r>
            <a:r>
              <a:rPr sz="900" dirty="0" err="1"/>
              <a:t>sa</a:t>
            </a:r>
            <a:r>
              <a:rPr sz="900" dirty="0"/>
              <a:t> console </a:t>
            </a:r>
            <a:r>
              <a:rPr sz="900" dirty="0" err="1"/>
              <a:t>telle</a:t>
            </a:r>
            <a:r>
              <a:rPr sz="900" dirty="0"/>
              <a:t> </a:t>
            </a:r>
            <a:r>
              <a:rPr sz="900" dirty="0" err="1"/>
              <a:t>qu’il</a:t>
            </a:r>
            <a:r>
              <a:rPr sz="900" dirty="0"/>
              <a:t> </a:t>
            </a:r>
            <a:r>
              <a:rPr sz="900" dirty="0" err="1"/>
              <a:t>l’avait</a:t>
            </a:r>
            <a:r>
              <a:rPr sz="900" dirty="0"/>
              <a:t> </a:t>
            </a:r>
            <a:r>
              <a:rPr sz="900" dirty="0" err="1"/>
              <a:t>quittée</a:t>
            </a:r>
            <a:r>
              <a:rPr sz="900" dirty="0"/>
              <a:t>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900" b="1" dirty="0"/>
              <a:t>4.4 Chat temps </a:t>
            </a:r>
            <a:r>
              <a:rPr sz="900" b="1" dirty="0" err="1"/>
              <a:t>réel</a:t>
            </a:r>
            <a:endParaRPr sz="900" b="1" dirty="0"/>
          </a:p>
          <a:p>
            <a:pPr marL="0" lvl="0" indent="0">
              <a:buNone/>
            </a:pPr>
            <a:r>
              <a:rPr sz="900" dirty="0" err="1"/>
              <a:t>Messagerie</a:t>
            </a:r>
            <a:r>
              <a:rPr sz="900" dirty="0"/>
              <a:t> </a:t>
            </a:r>
            <a:r>
              <a:rPr sz="900" dirty="0" err="1"/>
              <a:t>intégrée</a:t>
            </a:r>
            <a:r>
              <a:rPr sz="900" dirty="0"/>
              <a:t> entre </a:t>
            </a:r>
            <a:r>
              <a:rPr sz="900" dirty="0" err="1"/>
              <a:t>utilisateurs</a:t>
            </a:r>
            <a:r>
              <a:rPr sz="900" dirty="0"/>
              <a:t> </a:t>
            </a:r>
            <a:r>
              <a:rPr sz="900" dirty="0" err="1"/>
              <a:t>connectés</a:t>
            </a:r>
            <a:r>
              <a:rPr sz="900" dirty="0"/>
              <a:t> : </a:t>
            </a:r>
            <a:r>
              <a:rPr sz="900" dirty="0" err="1"/>
              <a:t>échange</a:t>
            </a:r>
            <a:r>
              <a:rPr sz="900" dirty="0"/>
              <a:t> de messages, </a:t>
            </a:r>
            <a:r>
              <a:rPr sz="900" dirty="0" err="1"/>
              <a:t>pièces</a:t>
            </a:r>
            <a:r>
              <a:rPr sz="900" dirty="0"/>
              <a:t> </a:t>
            </a:r>
            <a:r>
              <a:rPr sz="900" dirty="0" err="1"/>
              <a:t>jointes</a:t>
            </a:r>
            <a:r>
              <a:rPr sz="900" dirty="0"/>
              <a:t>, emojis, </a:t>
            </a:r>
            <a:r>
              <a:rPr sz="900" dirty="0" err="1"/>
              <a:t>indicateur</a:t>
            </a:r>
            <a:r>
              <a:rPr sz="900" dirty="0"/>
              <a:t> « </a:t>
            </a:r>
            <a:r>
              <a:rPr sz="900" dirty="0" err="1"/>
              <a:t>en</a:t>
            </a:r>
            <a:r>
              <a:rPr sz="900" dirty="0"/>
              <a:t> train </a:t>
            </a:r>
            <a:r>
              <a:rPr sz="900" dirty="0" err="1"/>
              <a:t>d’écrire</a:t>
            </a:r>
            <a:r>
              <a:rPr sz="900" dirty="0"/>
              <a:t> ». </a:t>
            </a:r>
            <a:r>
              <a:rPr sz="900" dirty="0" err="1"/>
              <a:t>Permet</a:t>
            </a:r>
            <a:r>
              <a:rPr sz="900" dirty="0"/>
              <a:t> la collaboration et le support </a:t>
            </a:r>
            <a:r>
              <a:rPr sz="900" dirty="0" err="1"/>
              <a:t>communautaire</a:t>
            </a:r>
            <a:r>
              <a:rPr sz="9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5. Mixages statistiques et probabilités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Pôles disponibles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Question posée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Usage typique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Fréquence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Quels numéros sortent le plus souvent sur la période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Numéros « chauds 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Surreprésentation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Quels numéros dépassent leur fréquence attendue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Numéros « surreprésentés 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Tendance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Quels numéros sont en hausse récente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Momentum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Vivier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Combien de numéros retenir par pool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Taille des sélections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Dormeur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Quels numéros sont en retard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Numéros « dus 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Stratégies de mixage</a:t>
            </a:r>
          </a:p>
          <a:p>
            <a:pPr marL="342900" lvl="0" indent="-342900">
              <a:buAutoNum type="arabicPeriod"/>
            </a:pPr>
            <a:r>
              <a:rPr b="1"/>
              <a:t>Équilibre</a:t>
            </a:r>
            <a:r>
              <a:t> : Combiner Fréquence, Surreprés et Tendance de manière équilibrée.</a:t>
            </a:r>
          </a:p>
          <a:p>
            <a:pPr marL="342900" lvl="0" indent="-342900">
              <a:buAutoNum type="arabicPeriod"/>
            </a:pPr>
            <a:r>
              <a:rPr b="1"/>
              <a:t>Dormeurs</a:t>
            </a:r>
            <a:r>
              <a:t> : Privilégier les numéros en retard (Dormeur élevé).</a:t>
            </a:r>
          </a:p>
          <a:p>
            <a:pPr marL="342900" lvl="0" indent="-342900">
              <a:buAutoNum type="arabicPeriod"/>
            </a:pPr>
            <a:r>
              <a:rPr b="1"/>
              <a:t>Chauds</a:t>
            </a:r>
            <a:r>
              <a:t> : Privilégier les numéros récemment fréquents (Fréquence + Tendance hausse).</a:t>
            </a:r>
          </a:p>
          <a:p>
            <a:pPr marL="0" lvl="0" indent="0">
              <a:buNone/>
            </a:pPr>
            <a:r>
              <a:t>L’utilisateur règle les cadrans (0–10) pour chaque pôle selon sa stratégie du moment.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6. Navigation : menu et sous-menus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Structure </a:t>
            </a:r>
            <a:r>
              <a:rPr b="1" dirty="0" err="1"/>
              <a:t>principale</a:t>
            </a:r>
            <a:endParaRPr b="1" dirty="0"/>
          </a:p>
          <a:p>
            <a:pPr lvl="0" indent="0">
              <a:buNone/>
            </a:pPr>
            <a:r>
              <a:rPr sz="1200" dirty="0">
                <a:latin typeface="Courier"/>
              </a:rPr>
              <a:t>MENU
├── </a:t>
            </a:r>
            <a:r>
              <a:rPr sz="1200" dirty="0" err="1">
                <a:latin typeface="Courier"/>
              </a:rPr>
              <a:t>Accueil</a:t>
            </a:r>
            <a:r>
              <a:rPr sz="1200" dirty="0">
                <a:latin typeface="Courier"/>
              </a:rPr>
              <a:t> / Console          → Tableau de bord principal (</a:t>
            </a:r>
            <a:r>
              <a:rPr sz="1200" dirty="0" err="1">
                <a:latin typeface="Courier"/>
              </a:rPr>
              <a:t>analyse</a:t>
            </a:r>
            <a:r>
              <a:rPr sz="1200" dirty="0">
                <a:latin typeface="Courier"/>
              </a:rPr>
              <a:t> + </a:t>
            </a:r>
            <a:r>
              <a:rPr sz="1200" dirty="0" err="1">
                <a:latin typeface="Courier"/>
              </a:rPr>
              <a:t>sélection</a:t>
            </a:r>
            <a:r>
              <a:rPr sz="1200" dirty="0">
                <a:latin typeface="Courier"/>
              </a:rPr>
              <a:t>)
├── Comment </a:t>
            </a:r>
            <a:r>
              <a:rPr sz="1200" dirty="0" err="1">
                <a:latin typeface="Courier"/>
              </a:rPr>
              <a:t>ça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marche</a:t>
            </a:r>
            <a:r>
              <a:rPr sz="1200" dirty="0">
                <a:latin typeface="Courier"/>
              </a:rPr>
              <a:t> ?        → </a:t>
            </a:r>
            <a:r>
              <a:rPr sz="1200" dirty="0" err="1">
                <a:latin typeface="Courier"/>
              </a:rPr>
              <a:t>Présentation</a:t>
            </a:r>
            <a:r>
              <a:rPr sz="1200" dirty="0">
                <a:latin typeface="Courier"/>
              </a:rPr>
              <a:t> de la Loi de Compensation
├── Mon </a:t>
            </a:r>
            <a:r>
              <a:rPr sz="1200" dirty="0" err="1">
                <a:latin typeface="Courier"/>
              </a:rPr>
              <a:t>Profil</a:t>
            </a:r>
            <a:r>
              <a:rPr sz="1200" dirty="0">
                <a:latin typeface="Courier"/>
              </a:rPr>
              <a:t>                 → </a:t>
            </a:r>
            <a:r>
              <a:rPr sz="1200" dirty="0" err="1">
                <a:latin typeface="Courier"/>
              </a:rPr>
              <a:t>Informations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personnelles</a:t>
            </a:r>
            <a:r>
              <a:rPr sz="1200" dirty="0">
                <a:latin typeface="Courier"/>
              </a:rPr>
              <a:t>
├── Mes Grilles </a:t>
            </a:r>
            <a:r>
              <a:rPr sz="1200" dirty="0" err="1">
                <a:latin typeface="Courier"/>
              </a:rPr>
              <a:t>Jouées</a:t>
            </a:r>
            <a:r>
              <a:rPr sz="1200" dirty="0">
                <a:latin typeface="Courier"/>
              </a:rPr>
              <a:t>         → </a:t>
            </a:r>
            <a:r>
              <a:rPr sz="1200" dirty="0" err="1">
                <a:latin typeface="Courier"/>
              </a:rPr>
              <a:t>Historique</a:t>
            </a:r>
            <a:r>
              <a:rPr sz="1200" dirty="0">
                <a:latin typeface="Courier"/>
              </a:rPr>
              <a:t> des grilles </a:t>
            </a:r>
            <a:r>
              <a:rPr sz="1200" dirty="0" err="1">
                <a:latin typeface="Courier"/>
              </a:rPr>
              <a:t>enregistrées</a:t>
            </a:r>
            <a:r>
              <a:rPr sz="1200" dirty="0">
                <a:latin typeface="Courier"/>
              </a:rPr>
              <a:t>
├── </a:t>
            </a:r>
            <a:r>
              <a:rPr sz="1200" dirty="0" err="1">
                <a:latin typeface="Courier"/>
              </a:rPr>
              <a:t>Historique</a:t>
            </a:r>
            <a:r>
              <a:rPr sz="1200" dirty="0">
                <a:latin typeface="Courier"/>
              </a:rPr>
              <a:t> EuroMillions    → </a:t>
            </a:r>
            <a:r>
              <a:rPr sz="1200" dirty="0" err="1">
                <a:latin typeface="Courier"/>
              </a:rPr>
              <a:t>Liste</a:t>
            </a:r>
            <a:r>
              <a:rPr sz="1200" dirty="0">
                <a:latin typeface="Courier"/>
              </a:rPr>
              <a:t> des tirages </a:t>
            </a:r>
            <a:r>
              <a:rPr sz="1200" dirty="0" err="1">
                <a:latin typeface="Courier"/>
              </a:rPr>
              <a:t>passés</a:t>
            </a:r>
            <a:r>
              <a:rPr sz="1200" dirty="0">
                <a:latin typeface="Courier"/>
              </a:rPr>
              <a:t>
├── </a:t>
            </a:r>
            <a:r>
              <a:rPr sz="1200" dirty="0" err="1">
                <a:latin typeface="Courier"/>
              </a:rPr>
              <a:t>Règles</a:t>
            </a:r>
            <a:r>
              <a:rPr sz="1200" dirty="0">
                <a:latin typeface="Courier"/>
              </a:rPr>
              <a:t> du Jeu              → </a:t>
            </a:r>
            <a:r>
              <a:rPr sz="1200" dirty="0" err="1">
                <a:latin typeface="Courier"/>
              </a:rPr>
              <a:t>Règles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officielles</a:t>
            </a:r>
            <a:r>
              <a:rPr sz="1200" dirty="0">
                <a:latin typeface="Courier"/>
              </a:rPr>
              <a:t> EuroMillions
├── CGU                        → Conditions </a:t>
            </a:r>
            <a:r>
              <a:rPr sz="1200" dirty="0" err="1">
                <a:latin typeface="Courier"/>
              </a:rPr>
              <a:t>générales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d'utilisation</a:t>
            </a:r>
            <a:r>
              <a:rPr sz="1200" dirty="0">
                <a:latin typeface="Courier"/>
              </a:rPr>
              <a:t>
├── </a:t>
            </a:r>
            <a:r>
              <a:rPr sz="1200" dirty="0" err="1">
                <a:latin typeface="Courier"/>
              </a:rPr>
              <a:t>Paramètres</a:t>
            </a:r>
            <a:r>
              <a:rPr sz="1200" dirty="0">
                <a:latin typeface="Courier"/>
              </a:rPr>
              <a:t>                 → </a:t>
            </a:r>
            <a:r>
              <a:rPr sz="1200" dirty="0" err="1">
                <a:latin typeface="Courier"/>
              </a:rPr>
              <a:t>Fenêtre</a:t>
            </a:r>
            <a:r>
              <a:rPr sz="1200" dirty="0">
                <a:latin typeface="Courier"/>
              </a:rPr>
              <a:t> de </a:t>
            </a:r>
            <a:r>
              <a:rPr sz="1200" dirty="0" err="1">
                <a:latin typeface="Courier"/>
              </a:rPr>
              <a:t>calcul</a:t>
            </a:r>
            <a:r>
              <a:rPr sz="1200" dirty="0">
                <a:latin typeface="Courier"/>
              </a:rPr>
              <a:t>, pop-ups, e-mails (</a:t>
            </a:r>
            <a:r>
              <a:rPr sz="1200" dirty="0" err="1">
                <a:latin typeface="Courier"/>
              </a:rPr>
              <a:t>selon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rôle</a:t>
            </a:r>
            <a:r>
              <a:rPr sz="1200" dirty="0">
                <a:latin typeface="Courier"/>
              </a:rPr>
              <a:t>)
├── Gestion </a:t>
            </a:r>
            <a:r>
              <a:rPr sz="1200" dirty="0" err="1">
                <a:latin typeface="Courier"/>
              </a:rPr>
              <a:t>utilisateurs</a:t>
            </a:r>
            <a:r>
              <a:rPr sz="1200" dirty="0">
                <a:latin typeface="Courier"/>
              </a:rPr>
              <a:t>       → (Admin </a:t>
            </a:r>
            <a:r>
              <a:rPr sz="1200" dirty="0" err="1">
                <a:latin typeface="Courier"/>
              </a:rPr>
              <a:t>uniquement</a:t>
            </a:r>
            <a:r>
              <a:rPr sz="1200" dirty="0">
                <a:latin typeface="Courier"/>
              </a:rPr>
              <a:t>) </a:t>
            </a:r>
            <a:r>
              <a:rPr sz="1200" dirty="0" err="1">
                <a:latin typeface="Courier"/>
              </a:rPr>
              <a:t>Informations</a:t>
            </a:r>
            <a:r>
              <a:rPr sz="1200" dirty="0">
                <a:latin typeface="Courier"/>
              </a:rPr>
              <a:t>, </a:t>
            </a:r>
            <a:r>
              <a:rPr sz="1200" dirty="0" err="1">
                <a:latin typeface="Courier"/>
              </a:rPr>
              <a:t>historique</a:t>
            </a:r>
            <a:r>
              <a:rPr sz="1200" dirty="0">
                <a:latin typeface="Courier"/>
              </a:rPr>
              <a:t>
└── </a:t>
            </a:r>
            <a:r>
              <a:rPr sz="1200" dirty="0" err="1">
                <a:latin typeface="Courier"/>
              </a:rPr>
              <a:t>Déconnexion</a:t>
            </a:r>
            <a:endParaRPr sz="1200" dirty="0">
              <a:latin typeface="Courier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272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Entrée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Sous-menu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Fenêtre de calcul par pool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Configurer les fenêtres Fréquence, Surreprés, Tendance, Dormeur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Paramètres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Gestion des pop-up et e-mails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Modèles de pop-up, envoi d’e-mails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Gestion 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Informations 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Liste des comptes, rôles, invitations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Gestion 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Historique des utilisateurs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Activité, connexions, tirages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Écrans clés</a:t>
            </a:r>
          </a:p>
          <a:p>
            <a:pPr lvl="0"/>
            <a:r>
              <a:rPr b="1"/>
              <a:t>Console</a:t>
            </a:r>
            <a:r>
              <a:t> : Cœur de l’application — sélection des numéros, réglages, envoi des grilles.</a:t>
            </a:r>
          </a:p>
          <a:p>
            <a:pPr lvl="0"/>
            <a:r>
              <a:rPr b="1"/>
              <a:t>Présentation</a:t>
            </a:r>
            <a:r>
              <a:t> : Explication pédagogique de la Loi de Compensation.</a:t>
            </a:r>
          </a:p>
          <a:p>
            <a:pPr lvl="0"/>
            <a:r>
              <a:rPr b="1"/>
              <a:t>Historique</a:t>
            </a:r>
            <a:r>
              <a:t> : Derniers tirages EuroMillions avec résultats.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Niveaux d’accès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Schéma</a:t>
            </a:r>
            <a:r>
              <a:rPr b="1" dirty="0"/>
              <a:t> des </a:t>
            </a:r>
            <a:r>
              <a:rPr b="1" dirty="0" err="1"/>
              <a:t>accès</a:t>
            </a:r>
            <a:endParaRPr b="1" dirty="0"/>
          </a:p>
          <a:p>
            <a:pPr lvl="0" indent="0">
              <a:buNone/>
            </a:pPr>
            <a:r>
              <a:rPr dirty="0">
                <a:latin typeface="Courier"/>
              </a:rPr>
              <a:t>                    ┌─────────────────────────────────────────┐
                    │           LOTOFORMULA4LIFE               │
                    └─────────────────────────────────────────┘
                                        │
            ┌───────────────────────────┼───────────────────────────┐
            │                           │                           │
            ▼                           ▼                           ▼
   ┌─────────────────┐       ┌─────────────────┐       ┌─────────────────┐
   │  ADMINISTRATEUR  │       │       VIP       │       │ INVITÉ / CIBLE  │
   └─────────────────┘       └─────────────────┘       └─────────────────┘
            │                           │                           │
            │                           │                           │
   • Console </a:t>
            </a:r>
            <a:r>
              <a:rPr dirty="0" err="1">
                <a:latin typeface="Courier"/>
              </a:rPr>
              <a:t>complète</a:t>
            </a:r>
            <a:r>
              <a:rPr dirty="0">
                <a:latin typeface="Courier"/>
              </a:rPr>
              <a:t>            • Console </a:t>
            </a:r>
            <a:r>
              <a:rPr dirty="0" err="1">
                <a:latin typeface="Courier"/>
              </a:rPr>
              <a:t>complète</a:t>
            </a:r>
            <a:r>
              <a:rPr dirty="0">
                <a:latin typeface="Courier"/>
              </a:rPr>
              <a:t>            • Console </a:t>
            </a:r>
            <a:r>
              <a:rPr dirty="0" err="1">
                <a:latin typeface="Courier"/>
              </a:rPr>
              <a:t>complète</a:t>
            </a:r>
            <a:r>
              <a:rPr dirty="0">
                <a:latin typeface="Courier"/>
              </a:rPr>
              <a:t>
   • Gestion </a:t>
            </a:r>
            <a:r>
              <a:rPr dirty="0" err="1">
                <a:latin typeface="Courier"/>
              </a:rPr>
              <a:t>utilisateurs</a:t>
            </a:r>
            <a:r>
              <a:rPr dirty="0">
                <a:latin typeface="Courier"/>
              </a:rPr>
              <a:t>       • Mes grilles                 • Mes grilles
   • </a:t>
            </a:r>
            <a:r>
              <a:rPr dirty="0" err="1">
                <a:latin typeface="Courier"/>
              </a:rPr>
              <a:t>Paramètres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avancés</a:t>
            </a:r>
            <a:r>
              <a:rPr dirty="0">
                <a:latin typeface="Courier"/>
              </a:rPr>
              <a:t>         • Chat                         • Chat
   • </a:t>
            </a:r>
            <a:r>
              <a:rPr dirty="0" err="1">
                <a:latin typeface="Courier"/>
              </a:rPr>
              <a:t>Fenêtre</a:t>
            </a:r>
            <a:r>
              <a:rPr dirty="0">
                <a:latin typeface="Courier"/>
              </a:rPr>
              <a:t> de </a:t>
            </a:r>
            <a:r>
              <a:rPr dirty="0" err="1">
                <a:latin typeface="Courier"/>
              </a:rPr>
              <a:t>calcul</a:t>
            </a:r>
            <a:r>
              <a:rPr dirty="0">
                <a:latin typeface="Courier"/>
              </a:rPr>
              <a:t>          • </a:t>
            </a:r>
            <a:r>
              <a:rPr dirty="0" err="1">
                <a:latin typeface="Courier"/>
              </a:rPr>
              <a:t>Historique</a:t>
            </a:r>
            <a:r>
              <a:rPr dirty="0">
                <a:latin typeface="Courier"/>
              </a:rPr>
              <a:t>                  • </a:t>
            </a:r>
            <a:r>
              <a:rPr dirty="0" err="1">
                <a:latin typeface="Courier"/>
              </a:rPr>
              <a:t>Historique</a:t>
            </a:r>
            <a:r>
              <a:rPr dirty="0">
                <a:latin typeface="Courier"/>
              </a:rPr>
              <a:t>
   • Pop-ups / e-mails          • </a:t>
            </a:r>
            <a:r>
              <a:rPr dirty="0" err="1">
                <a:latin typeface="Courier"/>
              </a:rPr>
              <a:t>Paramètres</a:t>
            </a:r>
            <a:r>
              <a:rPr dirty="0">
                <a:latin typeface="Courier"/>
              </a:rPr>
              <a:t> personnels       • </a:t>
            </a:r>
            <a:r>
              <a:rPr dirty="0" err="1">
                <a:latin typeface="Courier"/>
              </a:rPr>
              <a:t>Paramètres</a:t>
            </a:r>
            <a:r>
              <a:rPr dirty="0">
                <a:latin typeface="Courier"/>
              </a:rPr>
              <a:t> personnels
   • </a:t>
            </a:r>
            <a:r>
              <a:rPr dirty="0" err="1">
                <a:latin typeface="Courier"/>
              </a:rPr>
              <a:t>Historique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activité</a:t>
            </a:r>
            <a:r>
              <a:rPr dirty="0">
                <a:latin typeface="Courier"/>
              </a:rPr>
              <a:t>        • Pas de gestion admin        • Pas de gestion admin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Détail</a:t>
            </a:r>
            <a:r>
              <a:rPr b="1" dirty="0"/>
              <a:t> par </a:t>
            </a:r>
            <a:r>
              <a:rPr b="1" dirty="0" err="1"/>
              <a:t>niveau</a:t>
            </a:r>
            <a:endParaRPr b="1" dirty="0"/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(a) </a:t>
            </a:r>
            <a:r>
              <a:rPr b="1" dirty="0" err="1"/>
              <a:t>Accès</a:t>
            </a:r>
            <a:r>
              <a:rPr b="1" dirty="0"/>
              <a:t> </a:t>
            </a:r>
            <a:r>
              <a:rPr b="1" dirty="0" err="1"/>
              <a:t>Administrateur</a:t>
            </a:r>
            <a:endParaRPr b="1" dirty="0"/>
          </a:p>
          <a:p>
            <a:pPr lvl="0"/>
            <a:r>
              <a:rPr b="1" dirty="0"/>
              <a:t>Console</a:t>
            </a:r>
            <a:r>
              <a:rPr dirty="0"/>
              <a:t> : </a:t>
            </a:r>
            <a:r>
              <a:rPr dirty="0" err="1"/>
              <a:t>Identique</a:t>
            </a:r>
            <a:r>
              <a:rPr dirty="0"/>
              <a:t> à la console VIP, avec </a:t>
            </a:r>
            <a:r>
              <a:rPr dirty="0" err="1"/>
              <a:t>indicateur</a:t>
            </a:r>
            <a:r>
              <a:rPr dirty="0"/>
              <a:t> « ADMIN ».</a:t>
            </a:r>
          </a:p>
          <a:p>
            <a:pPr lvl="0"/>
            <a:r>
              <a:rPr b="1" dirty="0" err="1"/>
              <a:t>Paramètres</a:t>
            </a:r>
            <a:r>
              <a:rPr dirty="0"/>
              <a:t> : </a:t>
            </a:r>
            <a:r>
              <a:rPr dirty="0" err="1"/>
              <a:t>Accès</a:t>
            </a:r>
            <a:r>
              <a:rPr dirty="0"/>
              <a:t> à « </a:t>
            </a:r>
            <a:r>
              <a:rPr dirty="0" err="1"/>
              <a:t>Fenêtre</a:t>
            </a:r>
            <a:r>
              <a:rPr dirty="0"/>
              <a:t> de </a:t>
            </a:r>
            <a:r>
              <a:rPr dirty="0" err="1"/>
              <a:t>calcul</a:t>
            </a:r>
            <a:r>
              <a:rPr dirty="0"/>
              <a:t> par pool » et « Gestion des pop-up et e-mails ».</a:t>
            </a:r>
          </a:p>
          <a:p>
            <a:pPr lvl="0"/>
            <a:r>
              <a:rPr b="1" dirty="0"/>
              <a:t>Gestion </a:t>
            </a:r>
            <a:r>
              <a:rPr b="1" dirty="0" err="1"/>
              <a:t>utilisateurs</a:t>
            </a:r>
            <a:r>
              <a:rPr dirty="0"/>
              <a:t> : </a:t>
            </a:r>
            <a:r>
              <a:rPr dirty="0" err="1"/>
              <a:t>Informations</a:t>
            </a:r>
            <a:r>
              <a:rPr dirty="0"/>
              <a:t> </a:t>
            </a:r>
            <a:r>
              <a:rPr dirty="0" err="1"/>
              <a:t>utilisateurs</a:t>
            </a:r>
            <a:r>
              <a:rPr dirty="0"/>
              <a:t>, </a:t>
            </a:r>
            <a:r>
              <a:rPr dirty="0" err="1"/>
              <a:t>historique</a:t>
            </a:r>
            <a:r>
              <a:rPr dirty="0"/>
              <a:t> des </a:t>
            </a:r>
            <a:r>
              <a:rPr dirty="0" err="1"/>
              <a:t>utilisateurs</a:t>
            </a:r>
            <a:r>
              <a:rPr dirty="0"/>
              <a:t>, invitations, modification des </a:t>
            </a:r>
            <a:r>
              <a:rPr dirty="0" err="1"/>
              <a:t>rôles</a:t>
            </a:r>
            <a:r>
              <a:rPr dirty="0"/>
              <a:t>.</a:t>
            </a:r>
          </a:p>
          <a:p>
            <a:pPr lvl="0"/>
            <a:r>
              <a:rPr b="1" dirty="0"/>
              <a:t>Chat</a:t>
            </a:r>
            <a:r>
              <a:rPr dirty="0"/>
              <a:t> : </a:t>
            </a:r>
            <a:r>
              <a:rPr dirty="0" err="1"/>
              <a:t>Messagerie</a:t>
            </a:r>
            <a:r>
              <a:rPr dirty="0"/>
              <a:t> avec </a:t>
            </a:r>
            <a:r>
              <a:rPr dirty="0" err="1"/>
              <a:t>tous</a:t>
            </a:r>
            <a:r>
              <a:rPr dirty="0"/>
              <a:t> les </a:t>
            </a:r>
            <a:r>
              <a:rPr dirty="0" err="1"/>
              <a:t>utilisateurs</a:t>
            </a:r>
            <a:r>
              <a:rPr dirty="0"/>
              <a:t> </a:t>
            </a:r>
            <a:r>
              <a:rPr dirty="0" err="1"/>
              <a:t>connectés</a:t>
            </a:r>
            <a:r>
              <a:rPr dirty="0"/>
              <a:t>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(b) </a:t>
            </a:r>
            <a:r>
              <a:rPr b="1" dirty="0" err="1"/>
              <a:t>Accès</a:t>
            </a:r>
            <a:r>
              <a:rPr b="1" dirty="0"/>
              <a:t> </a:t>
            </a:r>
            <a:r>
              <a:rPr b="1" dirty="0" err="1"/>
              <a:t>Invité</a:t>
            </a:r>
            <a:r>
              <a:rPr b="1" dirty="0"/>
              <a:t> (</a:t>
            </a:r>
            <a:r>
              <a:rPr b="1" dirty="0" err="1"/>
              <a:t>cible</a:t>
            </a:r>
            <a:r>
              <a:rPr b="1" dirty="0"/>
              <a:t>)</a:t>
            </a:r>
          </a:p>
          <a:p>
            <a:pPr lvl="0"/>
            <a:r>
              <a:rPr b="1" dirty="0"/>
              <a:t>Console</a:t>
            </a:r>
            <a:r>
              <a:rPr dirty="0"/>
              <a:t> : </a:t>
            </a:r>
            <a:r>
              <a:rPr dirty="0" err="1"/>
              <a:t>Accès</a:t>
            </a:r>
            <a:r>
              <a:rPr dirty="0"/>
              <a:t> à </a:t>
            </a:r>
            <a:r>
              <a:rPr dirty="0" err="1"/>
              <a:t>l’analyse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(</a:t>
            </a:r>
            <a:r>
              <a:rPr dirty="0" err="1"/>
              <a:t>Fréquence</a:t>
            </a:r>
            <a:r>
              <a:rPr dirty="0"/>
              <a:t>, </a:t>
            </a:r>
            <a:r>
              <a:rPr dirty="0" err="1"/>
              <a:t>Surreprés</a:t>
            </a:r>
            <a:r>
              <a:rPr dirty="0"/>
              <a:t>, Tendance, Vivier, </a:t>
            </a:r>
            <a:r>
              <a:rPr dirty="0" err="1"/>
              <a:t>Dormeur</a:t>
            </a:r>
            <a:r>
              <a:rPr dirty="0"/>
              <a:t>).</a:t>
            </a:r>
          </a:p>
          <a:p>
            <a:pPr lvl="0"/>
            <a:r>
              <a:rPr b="1" dirty="0" err="1"/>
              <a:t>Paramètres</a:t>
            </a:r>
            <a:r>
              <a:rPr dirty="0"/>
              <a:t> : </a:t>
            </a:r>
            <a:r>
              <a:rPr dirty="0" err="1"/>
              <a:t>Paramètres</a:t>
            </a:r>
            <a:r>
              <a:rPr dirty="0"/>
              <a:t> personnels </a:t>
            </a:r>
            <a:r>
              <a:rPr dirty="0" err="1"/>
              <a:t>uniquement</a:t>
            </a:r>
            <a:r>
              <a:rPr dirty="0"/>
              <a:t>.</a:t>
            </a:r>
          </a:p>
          <a:p>
            <a:pPr lvl="0"/>
            <a:r>
              <a:rPr b="1" dirty="0"/>
              <a:t>Mes grilles</a:t>
            </a:r>
            <a:r>
              <a:rPr dirty="0"/>
              <a:t> : </a:t>
            </a:r>
            <a:r>
              <a:rPr dirty="0" err="1"/>
              <a:t>Enregistrement</a:t>
            </a:r>
            <a:r>
              <a:rPr dirty="0"/>
              <a:t> et consultation des grilles </a:t>
            </a:r>
            <a:r>
              <a:rPr dirty="0" err="1"/>
              <a:t>jouées</a:t>
            </a:r>
            <a:r>
              <a:rPr dirty="0"/>
              <a:t>.</a:t>
            </a:r>
          </a:p>
          <a:p>
            <a:pPr lvl="0"/>
            <a:r>
              <a:rPr b="1" dirty="0" err="1"/>
              <a:t>Historique</a:t>
            </a:r>
            <a:r>
              <a:rPr dirty="0"/>
              <a:t> : Consultation des tirages EuroMillions.</a:t>
            </a:r>
          </a:p>
          <a:p>
            <a:pPr lvl="0"/>
            <a:r>
              <a:rPr b="1" dirty="0"/>
              <a:t>Chat</a:t>
            </a:r>
            <a:r>
              <a:rPr dirty="0"/>
              <a:t> : </a:t>
            </a:r>
            <a:r>
              <a:rPr dirty="0" err="1"/>
              <a:t>Messagerie</a:t>
            </a:r>
            <a:r>
              <a:rPr dirty="0"/>
              <a:t> avec les </a:t>
            </a:r>
            <a:r>
              <a:rPr dirty="0" err="1"/>
              <a:t>autres</a:t>
            </a:r>
            <a:r>
              <a:rPr dirty="0"/>
              <a:t> </a:t>
            </a:r>
            <a:r>
              <a:rPr dirty="0" err="1"/>
              <a:t>utilisateurs</a:t>
            </a:r>
            <a:r>
              <a:rPr dirty="0"/>
              <a:t> </a:t>
            </a:r>
            <a:r>
              <a:rPr dirty="0" err="1"/>
              <a:t>connectés</a:t>
            </a:r>
            <a:r>
              <a:rPr dirty="0"/>
              <a:t>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(c) </a:t>
            </a:r>
            <a:r>
              <a:rPr b="1" dirty="0" err="1"/>
              <a:t>Accès</a:t>
            </a:r>
            <a:r>
              <a:rPr b="1" dirty="0"/>
              <a:t> VIP</a:t>
            </a:r>
          </a:p>
          <a:p>
            <a:pPr lvl="0"/>
            <a:r>
              <a:rPr b="1" dirty="0" err="1"/>
              <a:t>Identique</a:t>
            </a:r>
            <a:r>
              <a:rPr b="1" dirty="0"/>
              <a:t> à </a:t>
            </a:r>
            <a:r>
              <a:rPr b="1" dirty="0" err="1"/>
              <a:t>l’invité</a:t>
            </a:r>
            <a:r>
              <a:rPr dirty="0"/>
              <a:t> avec </a:t>
            </a:r>
            <a:r>
              <a:rPr dirty="0" err="1"/>
              <a:t>éventuellement</a:t>
            </a:r>
            <a:r>
              <a:rPr dirty="0"/>
              <a:t> des </a:t>
            </a:r>
            <a:r>
              <a:rPr dirty="0" err="1"/>
              <a:t>avantages</a:t>
            </a:r>
            <a:r>
              <a:rPr dirty="0"/>
              <a:t> </a:t>
            </a:r>
            <a:r>
              <a:rPr dirty="0" err="1"/>
              <a:t>étendus</a:t>
            </a:r>
            <a:r>
              <a:rPr dirty="0"/>
              <a:t> (à </a:t>
            </a:r>
            <a:r>
              <a:rPr dirty="0" err="1"/>
              <a:t>définir</a:t>
            </a:r>
            <a:r>
              <a:rPr dirty="0"/>
              <a:t> : </a:t>
            </a:r>
            <a:r>
              <a:rPr dirty="0" err="1"/>
              <a:t>historique</a:t>
            </a:r>
            <a:r>
              <a:rPr dirty="0"/>
              <a:t> plus long, </a:t>
            </a:r>
            <a:r>
              <a:rPr dirty="0" err="1"/>
              <a:t>alertes</a:t>
            </a:r>
            <a:r>
              <a:rPr dirty="0"/>
              <a:t>, etc.).</a:t>
            </a:r>
          </a:p>
          <a:p>
            <a:pPr lvl="0"/>
            <a:r>
              <a:rPr b="1" dirty="0"/>
              <a:t>Pas </a:t>
            </a:r>
            <a:r>
              <a:rPr b="1" dirty="0" err="1"/>
              <a:t>d’accès</a:t>
            </a:r>
            <a:r>
              <a:rPr dirty="0"/>
              <a:t> à la gestion des </a:t>
            </a:r>
            <a:r>
              <a:rPr dirty="0" err="1"/>
              <a:t>utilisateurs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aux </a:t>
            </a: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système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8797"/>
            <a:ext cx="8229600" cy="8572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8. Conclusion — Le moment de </a:t>
            </a:r>
            <a:r>
              <a:rPr dirty="0" err="1"/>
              <a:t>décider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2302"/>
            <a:ext cx="8229600" cy="3394472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LotoFormula4Life est </a:t>
            </a:r>
            <a:r>
              <a:rPr dirty="0" err="1"/>
              <a:t>une</a:t>
            </a:r>
            <a:r>
              <a:rPr dirty="0"/>
              <a:t> </a:t>
            </a:r>
            <a:r>
              <a:rPr b="1" dirty="0"/>
              <a:t>application </a:t>
            </a:r>
            <a:r>
              <a:rPr b="1" dirty="0" err="1"/>
              <a:t>innovante</a:t>
            </a:r>
            <a:r>
              <a:rPr dirty="0"/>
              <a:t> qui applique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philosophie</a:t>
            </a:r>
            <a:r>
              <a:rPr dirty="0"/>
              <a:t> </a:t>
            </a:r>
            <a:r>
              <a:rPr dirty="0" err="1"/>
              <a:t>statistique</a:t>
            </a:r>
            <a:r>
              <a:rPr dirty="0"/>
              <a:t> </a:t>
            </a:r>
            <a:r>
              <a:rPr dirty="0" err="1"/>
              <a:t>rigoureuse</a:t>
            </a:r>
            <a:r>
              <a:rPr dirty="0"/>
              <a:t> — la Loi de Compensation — à </a:t>
            </a:r>
            <a:r>
              <a:rPr dirty="0" err="1"/>
              <a:t>l’EuroMillions</a:t>
            </a:r>
            <a:r>
              <a:rPr dirty="0"/>
              <a:t>. Elle propose :</a:t>
            </a:r>
          </a:p>
          <a:p>
            <a:pPr lvl="0"/>
            <a:r>
              <a:rPr dirty="0"/>
              <a:t>Une </a:t>
            </a:r>
            <a:r>
              <a:rPr b="1" dirty="0"/>
              <a:t>interface </a:t>
            </a:r>
            <a:r>
              <a:rPr b="1" dirty="0" err="1"/>
              <a:t>professionnelle</a:t>
            </a:r>
            <a:r>
              <a:rPr dirty="0"/>
              <a:t> (cockpit) pour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analyse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profondeur</a:t>
            </a:r>
            <a:r>
              <a:rPr dirty="0"/>
              <a:t>.</a:t>
            </a:r>
          </a:p>
          <a:p>
            <a:pPr lvl="0"/>
            <a:r>
              <a:rPr dirty="0"/>
              <a:t>Des </a:t>
            </a:r>
            <a:r>
              <a:rPr b="1" dirty="0" err="1"/>
              <a:t>pôles</a:t>
            </a:r>
            <a:r>
              <a:rPr b="1" dirty="0"/>
              <a:t> </a:t>
            </a:r>
            <a:r>
              <a:rPr b="1" dirty="0" err="1"/>
              <a:t>statistiques</a:t>
            </a:r>
            <a:r>
              <a:rPr b="1" dirty="0"/>
              <a:t> multiples</a:t>
            </a:r>
            <a:r>
              <a:rPr dirty="0"/>
              <a:t> (</a:t>
            </a:r>
            <a:r>
              <a:rPr dirty="0" err="1"/>
              <a:t>Fréquence</a:t>
            </a:r>
            <a:r>
              <a:rPr dirty="0"/>
              <a:t>, </a:t>
            </a:r>
            <a:r>
              <a:rPr dirty="0" err="1"/>
              <a:t>Surreprésentation</a:t>
            </a:r>
            <a:r>
              <a:rPr dirty="0"/>
              <a:t>, Tendance, Vivier, </a:t>
            </a:r>
            <a:r>
              <a:rPr dirty="0" err="1"/>
              <a:t>Dormeur</a:t>
            </a:r>
            <a:r>
              <a:rPr dirty="0"/>
              <a:t>) </a:t>
            </a:r>
            <a:r>
              <a:rPr dirty="0" err="1"/>
              <a:t>combinables</a:t>
            </a:r>
            <a:r>
              <a:rPr dirty="0"/>
              <a:t> </a:t>
            </a:r>
            <a:r>
              <a:rPr dirty="0" err="1"/>
              <a:t>selon</a:t>
            </a:r>
            <a:r>
              <a:rPr dirty="0"/>
              <a:t> la </a:t>
            </a:r>
            <a:r>
              <a:rPr dirty="0" err="1"/>
              <a:t>stratégie</a:t>
            </a:r>
            <a:r>
              <a:rPr dirty="0"/>
              <a:t> de </a:t>
            </a:r>
            <a:r>
              <a:rPr dirty="0" err="1"/>
              <a:t>l’utilisateur</a:t>
            </a:r>
            <a:r>
              <a:rPr dirty="0"/>
              <a:t>.</a:t>
            </a:r>
          </a:p>
          <a:p>
            <a:pPr lvl="0"/>
            <a:r>
              <a:rPr dirty="0"/>
              <a:t>Une </a:t>
            </a:r>
            <a:r>
              <a:rPr b="1" dirty="0" err="1"/>
              <a:t>expérience</a:t>
            </a:r>
            <a:r>
              <a:rPr b="1" dirty="0"/>
              <a:t> </a:t>
            </a:r>
            <a:r>
              <a:rPr b="1" dirty="0" err="1"/>
              <a:t>utilisateur</a:t>
            </a:r>
            <a:r>
              <a:rPr b="1" dirty="0"/>
              <a:t> </a:t>
            </a:r>
            <a:r>
              <a:rPr b="1" dirty="0" err="1"/>
              <a:t>personnalisée</a:t>
            </a:r>
            <a:r>
              <a:rPr dirty="0"/>
              <a:t> (</a:t>
            </a:r>
            <a:r>
              <a:rPr dirty="0" err="1"/>
              <a:t>mémoire</a:t>
            </a:r>
            <a:r>
              <a:rPr dirty="0"/>
              <a:t> des </a:t>
            </a:r>
            <a:r>
              <a:rPr dirty="0" err="1"/>
              <a:t>réglages</a:t>
            </a:r>
            <a:r>
              <a:rPr dirty="0"/>
              <a:t>, chat temps </a:t>
            </a:r>
            <a:r>
              <a:rPr dirty="0" err="1"/>
              <a:t>réel</a:t>
            </a:r>
            <a:r>
              <a:rPr dirty="0"/>
              <a:t>).</a:t>
            </a:r>
          </a:p>
          <a:p>
            <a:pPr lvl="0"/>
            <a:r>
              <a:rPr dirty="0"/>
              <a:t>Une </a:t>
            </a:r>
            <a:r>
              <a:rPr b="1" dirty="0"/>
              <a:t>architecture </a:t>
            </a:r>
            <a:r>
              <a:rPr b="1" dirty="0" err="1"/>
              <a:t>modulaire</a:t>
            </a:r>
            <a:r>
              <a:rPr dirty="0"/>
              <a:t> (</a:t>
            </a:r>
            <a:r>
              <a:rPr dirty="0" err="1"/>
              <a:t>niveaux</a:t>
            </a:r>
            <a:r>
              <a:rPr dirty="0"/>
              <a:t> </a:t>
            </a:r>
            <a:r>
              <a:rPr dirty="0" err="1"/>
              <a:t>d’accès</a:t>
            </a:r>
            <a:r>
              <a:rPr dirty="0"/>
              <a:t> Admin, VIP, </a:t>
            </a:r>
            <a:r>
              <a:rPr dirty="0" err="1"/>
              <a:t>Invité</a:t>
            </a:r>
            <a:r>
              <a:rPr dirty="0"/>
              <a:t>) </a:t>
            </a:r>
            <a:r>
              <a:rPr dirty="0" err="1"/>
              <a:t>prête</a:t>
            </a:r>
            <a:r>
              <a:rPr dirty="0"/>
              <a:t> pour la montée </a:t>
            </a:r>
            <a:r>
              <a:rPr dirty="0" err="1"/>
              <a:t>en</a:t>
            </a:r>
            <a:r>
              <a:rPr dirty="0"/>
              <a:t> charge.</a:t>
            </a:r>
          </a:p>
          <a:p>
            <a:pPr marL="0" lvl="0" indent="0">
              <a:buNone/>
            </a:pPr>
            <a:r>
              <a:rPr dirty="0"/>
              <a:t>Le </a:t>
            </a:r>
            <a:r>
              <a:rPr dirty="0" err="1"/>
              <a:t>produit</a:t>
            </a:r>
            <a:r>
              <a:rPr dirty="0"/>
              <a:t> est </a:t>
            </a:r>
            <a:r>
              <a:rPr b="1" dirty="0" err="1"/>
              <a:t>opérationnel</a:t>
            </a:r>
            <a:r>
              <a:rPr dirty="0"/>
              <a:t>, </a:t>
            </a:r>
            <a:r>
              <a:rPr dirty="0" err="1"/>
              <a:t>déployé</a:t>
            </a:r>
            <a:r>
              <a:rPr dirty="0"/>
              <a:t> et </a:t>
            </a:r>
            <a:r>
              <a:rPr dirty="0" err="1"/>
              <a:t>évolutif</a:t>
            </a:r>
            <a:r>
              <a:rPr dirty="0"/>
              <a:t>. La </a:t>
            </a:r>
            <a:r>
              <a:rPr dirty="0" err="1"/>
              <a:t>philosophie</a:t>
            </a:r>
            <a:r>
              <a:rPr dirty="0"/>
              <a:t> est </a:t>
            </a:r>
            <a:r>
              <a:rPr dirty="0" err="1"/>
              <a:t>claire</a:t>
            </a:r>
            <a:r>
              <a:rPr dirty="0"/>
              <a:t>, </a:t>
            </a:r>
            <a:r>
              <a:rPr dirty="0" err="1"/>
              <a:t>l’approche</a:t>
            </a:r>
            <a:r>
              <a:rPr dirty="0"/>
              <a:t> est </a:t>
            </a:r>
            <a:r>
              <a:rPr dirty="0" err="1"/>
              <a:t>originale</a:t>
            </a:r>
            <a:r>
              <a:rPr dirty="0"/>
              <a:t>, et les </a:t>
            </a:r>
            <a:r>
              <a:rPr dirty="0" err="1"/>
              <a:t>fonctionnalités</a:t>
            </a:r>
            <a:r>
              <a:rPr dirty="0"/>
              <a:t> </a:t>
            </a:r>
            <a:r>
              <a:rPr dirty="0" err="1"/>
              <a:t>couvrent</a:t>
            </a:r>
            <a:r>
              <a:rPr dirty="0"/>
              <a:t> </a:t>
            </a:r>
            <a:r>
              <a:rPr dirty="0" err="1"/>
              <a:t>l’ensemble</a:t>
            </a:r>
            <a:r>
              <a:rPr dirty="0"/>
              <a:t> du </a:t>
            </a:r>
            <a:r>
              <a:rPr dirty="0" err="1"/>
              <a:t>parcours</a:t>
            </a:r>
            <a:r>
              <a:rPr dirty="0"/>
              <a:t> </a:t>
            </a:r>
            <a:r>
              <a:rPr dirty="0" err="1"/>
              <a:t>utilisateur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1359</Words>
  <Application>Microsoft Office PowerPoint</Application>
  <PresentationFormat>Affichage à l'écran (16:9)</PresentationFormat>
  <Paragraphs>127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</vt:lpstr>
      <vt:lpstr>Office Theme</vt:lpstr>
      <vt:lpstr>LOTOFORMULA4LIFE</vt:lpstr>
      <vt:lpstr>Présentation PowerPoint</vt:lpstr>
      <vt:lpstr>1. Vue d’ensemble</vt:lpstr>
      <vt:lpstr>2. Philosophie : La Loi de Compensation</vt:lpstr>
      <vt:lpstr>3. Ce qu’est LotoFormula4Life</vt:lpstr>
      <vt:lpstr>4. Approches originales et innovation</vt:lpstr>
      <vt:lpstr>5. Mixages statistiques et probabilités</vt:lpstr>
      <vt:lpstr>Présentation PowerPoint</vt:lpstr>
      <vt:lpstr>6. Navigation : menu et sous-menus</vt:lpstr>
      <vt:lpstr>Présentation PowerPoint</vt:lpstr>
      <vt:lpstr>7. Niveaux d’accès</vt:lpstr>
      <vt:lpstr>8. Conclusion — Le moment de décider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Brice Detav</cp:lastModifiedBy>
  <cp:revision>2</cp:revision>
  <dcterms:created xsi:type="dcterms:W3CDTF">2026-02-06T23:21:01Z</dcterms:created>
  <dcterms:modified xsi:type="dcterms:W3CDTF">2026-02-06T23:58:38Z</dcterms:modified>
</cp:coreProperties>
</file>